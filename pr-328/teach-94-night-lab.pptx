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9000" y="1054100"/>
            <a:ext cx="127" cy="4597400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89000" y="5651500"/>
            <a:ext cx="5041900" cy="12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229104" y="2436586"/>
            <a:ext cx="3493770" cy="127"/>
          </a:xfrm>
          <a:prstGeom prst="line">
            <a:avLst/>
          </a:prstGeom>
          <a:noFill/>
          <a:ln w="25400">
            <a:solidFill>
              <a:srgbClr val="99A0AB"/>
            </a:solidFill>
            <a:prstDash val="dash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92200" y="1257300"/>
            <a:ext cx="4737100" cy="3302000"/>
          </a:xfrm>
          <a:custGeom>
            <a:avLst/>
            <a:gdLst/>
            <a:ahLst/>
            <a:cxnLst/>
            <a:rect l="l" t="t" r="r" b="b"/>
            <a:pathLst>
              <a:path w="4737100" h="3302000">
                <a:moveTo>
                  <a:pt x="0" y="1179286"/>
                </a:moveTo>
                <a:cubicBezTo>
                  <a:pt x="378968" y="1179286"/>
                  <a:pt x="757936" y="1179286"/>
                  <a:pt x="1136904" y="1179286"/>
                </a:cubicBezTo>
                <a:cubicBezTo>
                  <a:pt x="1468501" y="1179286"/>
                  <a:pt x="1800098" y="0"/>
                  <a:pt x="2131695" y="0"/>
                </a:cubicBezTo>
                <a:cubicBezTo>
                  <a:pt x="2463292" y="0"/>
                  <a:pt x="2794889" y="3302000"/>
                  <a:pt x="3126486" y="3302000"/>
                </a:cubicBezTo>
                <a:cubicBezTo>
                  <a:pt x="3663357" y="3302000"/>
                  <a:pt x="4200229" y="3302000"/>
                  <a:pt x="4737100" y="3302000"/>
                </a:cubicBezTo>
              </a:path>
            </a:pathLst>
          </a:custGeom>
          <a:noFill/>
          <a:ln w="50800">
            <a:solidFill>
              <a:srgbClr val="F2B55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223895" y="1257300"/>
            <a:ext cx="127" cy="1179286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45074" y="2436586"/>
            <a:ext cx="127" cy="2122714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36600" y="5461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Energy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24050" y="5778500"/>
            <a:ext cx="302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2563586"/>
            <a:ext cx="208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methane and oxygen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74695" y="4686300"/>
            <a:ext cx="27070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carbon dioxide and water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28595" y="1913164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84674" y="3269343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ΔH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0300" y="1333500"/>
            <a:ext cx="524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0300" y="1752600"/>
            <a:ext cx="52451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spc="-58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Burning methane gives out energy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210300" y="3098800"/>
            <a:ext cx="52451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products end lower than the reactants, so the reaction transfers energy to the surroundings. Label the activation energy on the diagram.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9000" y="1054100"/>
            <a:ext cx="127" cy="4597400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89000" y="5651500"/>
            <a:ext cx="5041900" cy="12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229104" y="4559300"/>
            <a:ext cx="3493770" cy="127"/>
          </a:xfrm>
          <a:prstGeom prst="line">
            <a:avLst/>
          </a:prstGeom>
          <a:noFill/>
          <a:ln w="25400">
            <a:solidFill>
              <a:srgbClr val="99A0AB"/>
            </a:solidFill>
            <a:prstDash val="dash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92200" y="1257300"/>
            <a:ext cx="4737100" cy="3302000"/>
          </a:xfrm>
          <a:custGeom>
            <a:avLst/>
            <a:gdLst/>
            <a:ahLst/>
            <a:cxnLst/>
            <a:rect l="l" t="t" r="r" b="b"/>
            <a:pathLst>
              <a:path w="4737100" h="3302000">
                <a:moveTo>
                  <a:pt x="0" y="3302000"/>
                </a:moveTo>
                <a:cubicBezTo>
                  <a:pt x="378968" y="3302000"/>
                  <a:pt x="757936" y="3302000"/>
                  <a:pt x="1136904" y="3302000"/>
                </a:cubicBezTo>
                <a:cubicBezTo>
                  <a:pt x="1468501" y="3302000"/>
                  <a:pt x="1800098" y="0"/>
                  <a:pt x="2131695" y="0"/>
                </a:cubicBezTo>
                <a:cubicBezTo>
                  <a:pt x="2463292" y="0"/>
                  <a:pt x="2794889" y="2201333"/>
                  <a:pt x="3126486" y="2201333"/>
                </a:cubicBezTo>
                <a:cubicBezTo>
                  <a:pt x="3663357" y="2201333"/>
                  <a:pt x="4200229" y="2201333"/>
                  <a:pt x="4737100" y="2201333"/>
                </a:cubicBezTo>
              </a:path>
            </a:pathLst>
          </a:custGeom>
          <a:noFill/>
          <a:ln w="50800">
            <a:solidFill>
              <a:srgbClr val="F2B55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223895" y="1257300"/>
            <a:ext cx="127" cy="3302000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5545074" y="3458633"/>
            <a:ext cx="127" cy="110066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36600" y="5461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Energy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24050" y="5778500"/>
            <a:ext cx="302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4686300"/>
            <a:ext cx="208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calcium carbonate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218686" y="1960033"/>
            <a:ext cx="17630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calcium oxide + CO2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28595" y="3505200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84674" y="3780367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ΔH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0300" y="1333500"/>
            <a:ext cx="524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0300" y="1752600"/>
            <a:ext cx="52451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Heating limestone takes in energy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210300" y="3098800"/>
            <a:ext cx="52451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products end higher than the reactants, so the reaction takes in energy from the surroundings.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9000" y="1054100"/>
            <a:ext cx="127" cy="4038600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89000" y="5092700"/>
            <a:ext cx="5041900" cy="127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229104" y="2216439"/>
            <a:ext cx="3493770" cy="127"/>
          </a:xfrm>
          <a:prstGeom prst="line">
            <a:avLst/>
          </a:prstGeom>
          <a:noFill/>
          <a:ln w="25400">
            <a:solidFill>
              <a:srgbClr val="99A0AB"/>
            </a:solidFill>
            <a:prstDash val="dash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92200" y="1257300"/>
            <a:ext cx="4737100" cy="2743200"/>
          </a:xfrm>
          <a:custGeom>
            <a:avLst/>
            <a:gdLst/>
            <a:ahLst/>
            <a:cxnLst/>
            <a:rect l="l" t="t" r="r" b="b"/>
            <a:pathLst>
              <a:path w="4737100" h="2743200">
                <a:moveTo>
                  <a:pt x="0" y="959139"/>
                </a:moveTo>
                <a:cubicBezTo>
                  <a:pt x="378968" y="959139"/>
                  <a:pt x="757936" y="959139"/>
                  <a:pt x="1136904" y="959139"/>
                </a:cubicBezTo>
                <a:cubicBezTo>
                  <a:pt x="1468501" y="959139"/>
                  <a:pt x="1800098" y="0"/>
                  <a:pt x="2131695" y="0"/>
                </a:cubicBezTo>
                <a:cubicBezTo>
                  <a:pt x="2463292" y="0"/>
                  <a:pt x="2794889" y="2743200"/>
                  <a:pt x="3126486" y="2743200"/>
                </a:cubicBezTo>
                <a:cubicBezTo>
                  <a:pt x="3663357" y="2743200"/>
                  <a:pt x="4200229" y="2743200"/>
                  <a:pt x="4737100" y="2743200"/>
                </a:cubicBezTo>
              </a:path>
            </a:pathLst>
          </a:custGeom>
          <a:noFill/>
          <a:ln w="50800">
            <a:solidFill>
              <a:srgbClr val="F2B55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223895" y="1257300"/>
            <a:ext cx="127" cy="959139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45074" y="2216439"/>
            <a:ext cx="127" cy="1784061"/>
          </a:xfrm>
          <a:prstGeom prst="line">
            <a:avLst/>
          </a:prstGeom>
          <a:noFill/>
          <a:ln w="31750">
            <a:solidFill>
              <a:srgbClr val="ECEDEF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36600" y="5461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Energy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24050" y="5219700"/>
            <a:ext cx="302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2343439"/>
            <a:ext cx="208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hydrogen and oxygen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978400" y="4127500"/>
            <a:ext cx="1003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water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28595" y="1733839"/>
            <a:ext cx="41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884674" y="2879869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ΔH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87400" y="5803900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Not drawn to scale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210300" y="1333500"/>
            <a:ext cx="524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spc="136" kern="0" dirty="0">
                <a:solidFill>
                  <a:srgbClr val="99A0A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DIAGRAM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0300" y="1752600"/>
            <a:ext cx="52451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72" kern="0" dirty="0">
                <a:solidFill>
                  <a:srgbClr val="ECEDE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small activation energy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210300" y="3098800"/>
            <a:ext cx="5245100" cy="16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900" dirty="0">
                <a:solidFill>
                  <a:srgbClr val="ECEDE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Hydrogen burns with a large energy change and a small activation energy.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changes</dc:title>
  <dc:subject/>
  <dc:creator>Teaching Journey</dc:creator>
  <cp:lastModifiedBy>Teaching Journey</cp:lastModifiedBy>
  <cp:revision>1</cp:revision>
  <dcterms:created xsi:type="dcterms:W3CDTF">2026-09-26T22:18:58Z</dcterms:created>
  <dcterms:modified xsi:type="dcterms:W3CDTF">2026-09-26T22:18:58Z</dcterms:modified>
</cp:coreProperties>
</file>