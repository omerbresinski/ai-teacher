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9000" y="1079500"/>
            <a:ext cx="127" cy="45466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89000" y="5626100"/>
            <a:ext cx="5041900" cy="127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229104" y="2430236"/>
            <a:ext cx="3493770" cy="127"/>
          </a:xfrm>
          <a:prstGeom prst="line">
            <a:avLst/>
          </a:prstGeom>
          <a:noFill/>
          <a:ln w="25400">
            <a:solidFill>
              <a:srgbClr val="6E6656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92200" y="1282700"/>
            <a:ext cx="4737100" cy="3213100"/>
          </a:xfrm>
          <a:custGeom>
            <a:avLst/>
            <a:gdLst/>
            <a:ahLst/>
            <a:cxnLst/>
            <a:rect l="l" t="t" r="r" b="b"/>
            <a:pathLst>
              <a:path w="4737100" h="3213100">
                <a:moveTo>
                  <a:pt x="0" y="1147536"/>
                </a:moveTo>
                <a:cubicBezTo>
                  <a:pt x="378968" y="1147536"/>
                  <a:pt x="757936" y="1147536"/>
                  <a:pt x="1136904" y="1147536"/>
                </a:cubicBezTo>
                <a:cubicBezTo>
                  <a:pt x="1468501" y="1147536"/>
                  <a:pt x="1800098" y="0"/>
                  <a:pt x="2131695" y="0"/>
                </a:cubicBezTo>
                <a:cubicBezTo>
                  <a:pt x="2463292" y="0"/>
                  <a:pt x="2794889" y="3213100"/>
                  <a:pt x="3126486" y="3213100"/>
                </a:cubicBezTo>
                <a:cubicBezTo>
                  <a:pt x="3663357" y="3213100"/>
                  <a:pt x="4200229" y="3213100"/>
                  <a:pt x="4737100" y="3213100"/>
                </a:cubicBezTo>
              </a:path>
            </a:pathLst>
          </a:custGeom>
          <a:noFill/>
          <a:ln w="50800">
            <a:solidFill>
              <a:srgbClr val="A94A1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223895" y="1282700"/>
            <a:ext cx="127" cy="1147536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45074" y="2430236"/>
            <a:ext cx="127" cy="2065564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36600" y="546100"/>
            <a:ext cx="12573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5753100"/>
            <a:ext cx="3213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2557236"/>
            <a:ext cx="20808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methane and oxygen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74695" y="4622800"/>
            <a:ext cx="270700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carbon dioxide and water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15895" y="1902052"/>
            <a:ext cx="431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71974" y="3221718"/>
            <a:ext cx="596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ΔH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0300" y="1676400"/>
            <a:ext cx="524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spc="-29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Burning methane gives out energy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210300" y="3022600"/>
            <a:ext cx="5245100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products end lower than the reactants, so the reaction transfers energy to the surroundings. Label the activation energy on the diagram.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9000" y="1079500"/>
            <a:ext cx="127" cy="45466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89000" y="5626100"/>
            <a:ext cx="5041900" cy="127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229104" y="4495800"/>
            <a:ext cx="3493770" cy="127"/>
          </a:xfrm>
          <a:prstGeom prst="line">
            <a:avLst/>
          </a:prstGeom>
          <a:noFill/>
          <a:ln w="25400">
            <a:solidFill>
              <a:srgbClr val="6E6656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92200" y="1282700"/>
            <a:ext cx="4737100" cy="3213100"/>
          </a:xfrm>
          <a:custGeom>
            <a:avLst/>
            <a:gdLst/>
            <a:ahLst/>
            <a:cxnLst/>
            <a:rect l="l" t="t" r="r" b="b"/>
            <a:pathLst>
              <a:path w="4737100" h="3213100">
                <a:moveTo>
                  <a:pt x="0" y="3213100"/>
                </a:moveTo>
                <a:cubicBezTo>
                  <a:pt x="378968" y="3213100"/>
                  <a:pt x="757936" y="3213100"/>
                  <a:pt x="1136904" y="3213100"/>
                </a:cubicBezTo>
                <a:cubicBezTo>
                  <a:pt x="1468501" y="3213100"/>
                  <a:pt x="1800098" y="0"/>
                  <a:pt x="2131695" y="0"/>
                </a:cubicBezTo>
                <a:cubicBezTo>
                  <a:pt x="2463292" y="0"/>
                  <a:pt x="2794889" y="2142067"/>
                  <a:pt x="3126486" y="2142067"/>
                </a:cubicBezTo>
                <a:cubicBezTo>
                  <a:pt x="3663357" y="2142067"/>
                  <a:pt x="4200229" y="2142067"/>
                  <a:pt x="4737100" y="2142067"/>
                </a:cubicBezTo>
              </a:path>
            </a:pathLst>
          </a:custGeom>
          <a:noFill/>
          <a:ln w="50800">
            <a:solidFill>
              <a:srgbClr val="A94A1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223895" y="1282700"/>
            <a:ext cx="127" cy="32131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5545074" y="3424767"/>
            <a:ext cx="127" cy="1071033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36600" y="546100"/>
            <a:ext cx="12573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5753100"/>
            <a:ext cx="3213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4622800"/>
            <a:ext cx="20808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calcium carbonate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218686" y="1875367"/>
            <a:ext cx="1763014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calcium oxide + CO2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15895" y="3451225"/>
            <a:ext cx="431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71974" y="3718983"/>
            <a:ext cx="596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ΔH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0300" y="1676400"/>
            <a:ext cx="52451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Heating limestone takes in energy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210300" y="3022600"/>
            <a:ext cx="52451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products end higher than the reactants, so the reaction takes in energy from the surroundings.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9000" y="1079500"/>
            <a:ext cx="127" cy="39624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89000" y="5041900"/>
            <a:ext cx="5041900" cy="127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229104" y="2332260"/>
            <a:ext cx="3493770" cy="127"/>
          </a:xfrm>
          <a:prstGeom prst="line">
            <a:avLst/>
          </a:prstGeom>
          <a:noFill/>
          <a:ln w="25400">
            <a:solidFill>
              <a:srgbClr val="6E6656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92200" y="1282700"/>
            <a:ext cx="4737100" cy="2628900"/>
          </a:xfrm>
          <a:custGeom>
            <a:avLst/>
            <a:gdLst/>
            <a:ahLst/>
            <a:cxnLst/>
            <a:rect l="l" t="t" r="r" b="b"/>
            <a:pathLst>
              <a:path w="4737100" h="2628900">
                <a:moveTo>
                  <a:pt x="0" y="1049560"/>
                </a:moveTo>
                <a:cubicBezTo>
                  <a:pt x="378968" y="1049560"/>
                  <a:pt x="757936" y="1049560"/>
                  <a:pt x="1136904" y="1049560"/>
                </a:cubicBezTo>
                <a:cubicBezTo>
                  <a:pt x="1468501" y="1049560"/>
                  <a:pt x="1800098" y="0"/>
                  <a:pt x="2131695" y="0"/>
                </a:cubicBezTo>
                <a:cubicBezTo>
                  <a:pt x="2463292" y="0"/>
                  <a:pt x="2794889" y="2628900"/>
                  <a:pt x="3126486" y="2628900"/>
                </a:cubicBezTo>
                <a:cubicBezTo>
                  <a:pt x="3663357" y="2628900"/>
                  <a:pt x="4200229" y="2628900"/>
                  <a:pt x="4737100" y="2628900"/>
                </a:cubicBezTo>
              </a:path>
            </a:pathLst>
          </a:custGeom>
          <a:noFill/>
          <a:ln w="50800">
            <a:solidFill>
              <a:srgbClr val="A94A1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223895" y="1282700"/>
            <a:ext cx="127" cy="104956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45074" y="2332260"/>
            <a:ext cx="127" cy="157934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36600" y="546100"/>
            <a:ext cx="12573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5168900"/>
            <a:ext cx="3213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2459260"/>
            <a:ext cx="20808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hydrogen and oxygen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914900" y="4038600"/>
            <a:ext cx="1066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15895" y="1824260"/>
            <a:ext cx="431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71974" y="2880630"/>
            <a:ext cx="596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ΔH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87400" y="5778500"/>
            <a:ext cx="3009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 drawn to scale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0300" y="1676400"/>
            <a:ext cx="52451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small activation energy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210300" y="3022600"/>
            <a:ext cx="5245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Hydrogen burns with a large energy change and a small activation energy.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changes</dc:title>
  <dc:subject/>
  <dc:creator>Teaching Journey</dc:creator>
  <cp:lastModifiedBy>Teaching Journey</cp:lastModifiedBy>
  <cp:revision>1</cp:revision>
  <dcterms:created xsi:type="dcterms:W3CDTF">2026-09-26T22:18:52Z</dcterms:created>
  <dcterms:modified xsi:type="dcterms:W3CDTF">2026-09-26T22:18:52Z</dcterms:modified>
</cp:coreProperties>
</file>